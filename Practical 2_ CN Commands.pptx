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2" r:id="rId4"/>
    <p:sldId id="259" r:id="rId5"/>
    <p:sldId id="260" r:id="rId6"/>
    <p:sldId id="261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D66D0-F104-4395-A998-15B39B1FA3C8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1FA73-3AE6-41A6-8505-1F3E3FF2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624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help test connections, view network settings, track packet paths, manage routing tables, and check hardware address maps to solve computer network problems.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A1FA73-3AE6-41A6-8505-1F3E3FF20C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156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D330C-529D-4348-9A80-DB80F5FA35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DFEBA-A3D5-46A5-9DAE-9C788DAE1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93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D330C-529D-4348-9A80-DB80F5FA35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DFEBA-A3D5-46A5-9DAE-9C788DAE1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471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D330C-529D-4348-9A80-DB80F5FA35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DFEBA-A3D5-46A5-9DAE-9C788DAE1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963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D330C-529D-4348-9A80-DB80F5FA35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DFEBA-A3D5-46A5-9DAE-9C788DAE1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02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D330C-529D-4348-9A80-DB80F5FA35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DFEBA-A3D5-46A5-9DAE-9C788DAE1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311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D330C-529D-4348-9A80-DB80F5FA35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DFEBA-A3D5-46A5-9DAE-9C788DAE1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263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D330C-529D-4348-9A80-DB80F5FA35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DFEBA-A3D5-46A5-9DAE-9C788DAE1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598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D330C-529D-4348-9A80-DB80F5FA35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DFEBA-A3D5-46A5-9DAE-9C788DAE1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959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D330C-529D-4348-9A80-DB80F5FA35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DFEBA-A3D5-46A5-9DAE-9C788DAE1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75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D330C-529D-4348-9A80-DB80F5FA35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DFEBA-A3D5-46A5-9DAE-9C788DAE1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865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D330C-529D-4348-9A80-DB80F5FA35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DFEBA-A3D5-46A5-9DAE-9C788DAE1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35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9D330C-529D-4348-9A80-DB80F5FA35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6DFEBA-A3D5-46A5-9DAE-9C788DAE1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711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Practical 2</a:t>
            </a:r>
            <a:br>
              <a:rPr lang="en-US" dirty="0" smtClean="0"/>
            </a:br>
            <a:r>
              <a:rPr lang="en-US" dirty="0" smtClean="0"/>
              <a:t>Use of ping, </a:t>
            </a:r>
            <a:r>
              <a:rPr lang="en-US" dirty="0" err="1" smtClean="0"/>
              <a:t>tracert</a:t>
            </a:r>
            <a:r>
              <a:rPr lang="en-US" dirty="0" smtClean="0"/>
              <a:t>/</a:t>
            </a:r>
            <a:r>
              <a:rPr lang="en-US" dirty="0" err="1" smtClean="0"/>
              <a:t>traceroute</a:t>
            </a:r>
            <a:r>
              <a:rPr lang="en-US" dirty="0" smtClean="0"/>
              <a:t>, </a:t>
            </a:r>
            <a:r>
              <a:rPr lang="en-US" dirty="0" err="1" smtClean="0"/>
              <a:t>ipconfig</a:t>
            </a:r>
            <a:r>
              <a:rPr lang="en-US" dirty="0" smtClean="0"/>
              <a:t>/</a:t>
            </a:r>
            <a:r>
              <a:rPr lang="en-US" dirty="0" err="1" smtClean="0"/>
              <a:t>ifconfig</a:t>
            </a:r>
            <a:r>
              <a:rPr lang="en-US" dirty="0" smtClean="0"/>
              <a:t>, route, and </a:t>
            </a:r>
            <a:r>
              <a:rPr lang="en-US" dirty="0" err="1" smtClean="0"/>
              <a:t>arp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997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Ping</a:t>
            </a:r>
          </a:p>
          <a:p>
            <a:r>
              <a:rPr lang="en-US" dirty="0"/>
              <a:t>Test if a remote computer or website is online and reachable.</a:t>
            </a:r>
          </a:p>
          <a:p>
            <a:r>
              <a:rPr lang="en-US" dirty="0"/>
              <a:t>Measure round-trip time (latency) in milliseconds for data packets.</a:t>
            </a:r>
          </a:p>
          <a:p>
            <a:r>
              <a:rPr lang="en-US" dirty="0"/>
              <a:t>Check for packet loss to see if the network connection is stable.</a:t>
            </a:r>
          </a:p>
          <a:p>
            <a:pPr marL="0" indent="0">
              <a:buNone/>
            </a:pPr>
            <a:r>
              <a:rPr lang="en-US" b="1" dirty="0"/>
              <a:t>Ping Examples</a:t>
            </a:r>
          </a:p>
          <a:p>
            <a:r>
              <a:rPr lang="en-US" b="1" dirty="0"/>
              <a:t>Test connection</a:t>
            </a:r>
            <a:r>
              <a:rPr lang="en-US" dirty="0"/>
              <a:t>: ping google.com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checks </a:t>
            </a:r>
            <a:r>
              <a:rPr lang="en-US" dirty="0"/>
              <a:t>if Google's servers are reachable.</a:t>
            </a:r>
          </a:p>
          <a:p>
            <a:r>
              <a:rPr lang="en-US" b="1" dirty="0"/>
              <a:t>Test local card</a:t>
            </a:r>
            <a:r>
              <a:rPr lang="en-US" dirty="0"/>
              <a:t>: ping 127.0.0.1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tests </a:t>
            </a:r>
            <a:r>
              <a:rPr lang="en-US" dirty="0"/>
              <a:t>your own network card (</a:t>
            </a:r>
            <a:r>
              <a:rPr lang="en-US" dirty="0" err="1"/>
              <a:t>localhost</a:t>
            </a:r>
            <a:r>
              <a:rPr lang="en-US" dirty="0" smtClean="0"/>
              <a:t>).</a:t>
            </a:r>
          </a:p>
          <a:p>
            <a:pPr marL="0" indent="0">
              <a:buNone/>
            </a:pPr>
            <a:r>
              <a:rPr lang="en-US" dirty="0" smtClean="0"/>
              <a:t>ping -n 5 192.168.1.1</a:t>
            </a:r>
          </a:p>
          <a:p>
            <a:pPr marL="0" indent="0">
              <a:buNone/>
            </a:pPr>
            <a:r>
              <a:rPr lang="en-US" dirty="0" smtClean="0"/>
              <a:t>Ping the target exactly 5 times and stop by itself.</a:t>
            </a:r>
            <a:endParaRPr lang="en-US" dirty="0"/>
          </a:p>
          <a:p>
            <a:r>
              <a:rPr lang="en-US" b="1" dirty="0"/>
              <a:t>Continuous ping</a:t>
            </a:r>
            <a:r>
              <a:rPr lang="en-US" dirty="0"/>
              <a:t>: ping -t 192.168.1.1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pings </a:t>
            </a:r>
            <a:r>
              <a:rPr lang="en-US" dirty="0"/>
              <a:t>your router continuously on Windows</a:t>
            </a:r>
            <a:r>
              <a:rPr lang="en-US" dirty="0" smtClean="0"/>
              <a:t>. </a:t>
            </a:r>
          </a:p>
          <a:p>
            <a:pPr marL="0" indent="0">
              <a:buNone/>
            </a:pPr>
            <a:r>
              <a:rPr lang="en-US" b="1" dirty="0" smtClean="0"/>
              <a:t>NOTE:</a:t>
            </a:r>
            <a:r>
              <a:rPr lang="en-US" dirty="0" smtClean="0"/>
              <a:t> Press Ctrl + C to stop</a:t>
            </a:r>
            <a:endParaRPr lang="en-US" dirty="0"/>
          </a:p>
          <a:p>
            <a:r>
              <a:rPr lang="en-US" b="1" dirty="0"/>
              <a:t>Limit packet count</a:t>
            </a:r>
            <a:r>
              <a:rPr lang="en-US" dirty="0"/>
              <a:t>: ping -c 4 </a:t>
            </a:r>
            <a:r>
              <a:rPr lang="en-US" dirty="0" smtClean="0"/>
              <a:t>192.168.1.1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sends exactly 4 packets on Linux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490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 smtClean="0"/>
              <a:t>Tracert</a:t>
            </a:r>
            <a:r>
              <a:rPr lang="en-US" b="1" dirty="0" smtClean="0"/>
              <a:t> / </a:t>
            </a:r>
            <a:r>
              <a:rPr lang="en-US" b="1" dirty="0" err="1" smtClean="0"/>
              <a:t>Traceroute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 err="1"/>
              <a:t>Tracert</a:t>
            </a:r>
            <a:r>
              <a:rPr lang="en-US" b="1" dirty="0"/>
              <a:t> / </a:t>
            </a:r>
            <a:r>
              <a:rPr lang="en-US" b="1" dirty="0" err="1"/>
              <a:t>Traceroute</a:t>
            </a:r>
            <a:endParaRPr lang="en-US" b="1" dirty="0"/>
          </a:p>
          <a:p>
            <a:r>
              <a:rPr lang="en-US" dirty="0"/>
              <a:t>Trace the exact multi-hop path that data packets take to reach a destination.</a:t>
            </a:r>
          </a:p>
          <a:p>
            <a:r>
              <a:rPr lang="en-US" dirty="0"/>
              <a:t>Identify which specific router or network link is causing delays or failures.</a:t>
            </a:r>
          </a:p>
          <a:p>
            <a:r>
              <a:rPr lang="en-US" dirty="0"/>
              <a:t>Use </a:t>
            </a:r>
            <a:r>
              <a:rPr lang="en-US" dirty="0" err="1"/>
              <a:t>tracert</a:t>
            </a:r>
            <a:r>
              <a:rPr lang="en-US" dirty="0"/>
              <a:t> on Windows and </a:t>
            </a:r>
            <a:r>
              <a:rPr lang="en-US" dirty="0" err="1"/>
              <a:t>traceroute</a:t>
            </a:r>
            <a:r>
              <a:rPr lang="en-US" dirty="0"/>
              <a:t> on Linux/</a:t>
            </a:r>
            <a:r>
              <a:rPr lang="en-US" dirty="0" err="1"/>
              <a:t>macOS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err="1" smtClean="0"/>
              <a:t>Tracert</a:t>
            </a:r>
            <a:r>
              <a:rPr lang="en-US" b="1" dirty="0" smtClean="0"/>
              <a:t> </a:t>
            </a:r>
            <a:r>
              <a:rPr lang="en-US" b="1" dirty="0"/>
              <a:t>/ </a:t>
            </a:r>
            <a:r>
              <a:rPr lang="en-US" b="1" dirty="0" err="1"/>
              <a:t>Traceroute</a:t>
            </a:r>
            <a:r>
              <a:rPr lang="en-US" b="1" dirty="0"/>
              <a:t> Examples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Trace </a:t>
            </a:r>
            <a:r>
              <a:rPr lang="en-US" b="1" dirty="0"/>
              <a:t>path</a:t>
            </a:r>
            <a:r>
              <a:rPr lang="en-US" dirty="0"/>
              <a:t>: </a:t>
            </a:r>
            <a:r>
              <a:rPr lang="en-US" dirty="0" err="1"/>
              <a:t>tracert</a:t>
            </a:r>
            <a:r>
              <a:rPr lang="en-US" dirty="0"/>
              <a:t> amazon.com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tracks </a:t>
            </a:r>
            <a:r>
              <a:rPr lang="en-US" dirty="0"/>
              <a:t>every router hop to Amazon on Windows.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Linux </a:t>
            </a:r>
            <a:r>
              <a:rPr lang="en-US" b="1" dirty="0"/>
              <a:t>trace</a:t>
            </a:r>
            <a:r>
              <a:rPr lang="en-US" dirty="0"/>
              <a:t>: </a:t>
            </a:r>
            <a:r>
              <a:rPr lang="en-US" dirty="0" err="1"/>
              <a:t>traceroute</a:t>
            </a:r>
            <a:r>
              <a:rPr lang="en-US" dirty="0"/>
              <a:t> amazon.com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performs </a:t>
            </a:r>
            <a:r>
              <a:rPr lang="en-US" dirty="0"/>
              <a:t>the same path trace on Linux.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Skip </a:t>
            </a:r>
            <a:r>
              <a:rPr lang="en-US" b="1" dirty="0"/>
              <a:t>name lookup</a:t>
            </a:r>
            <a:r>
              <a:rPr lang="en-US" dirty="0"/>
              <a:t>: </a:t>
            </a:r>
            <a:r>
              <a:rPr lang="en-US" dirty="0" err="1"/>
              <a:t>tracert</a:t>
            </a:r>
            <a:r>
              <a:rPr lang="en-US" dirty="0"/>
              <a:t> -d 8.8.8.8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speeds </a:t>
            </a:r>
            <a:r>
              <a:rPr lang="en-US" dirty="0"/>
              <a:t>up the trace by hiding domain names.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564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Ipconfig</a:t>
            </a:r>
            <a:r>
              <a:rPr lang="en-US" dirty="0" smtClean="0"/>
              <a:t> / </a:t>
            </a:r>
            <a:r>
              <a:rPr lang="en-US" dirty="0" err="1" smtClean="0"/>
              <a:t>Ifconfig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 err="1" smtClean="0"/>
              <a:t>Ipconfig</a:t>
            </a:r>
            <a:r>
              <a:rPr lang="en-US" b="1" dirty="0" smtClean="0"/>
              <a:t> </a:t>
            </a:r>
            <a:r>
              <a:rPr lang="en-US" b="1" dirty="0"/>
              <a:t>/ </a:t>
            </a:r>
            <a:r>
              <a:rPr lang="en-US" b="1" dirty="0" err="1"/>
              <a:t>Ifconfig</a:t>
            </a:r>
            <a:endParaRPr lang="en-US" b="1" dirty="0"/>
          </a:p>
          <a:p>
            <a:r>
              <a:rPr lang="en-US" dirty="0"/>
              <a:t>Display current TCP/IP network configuration details for a device.</a:t>
            </a:r>
          </a:p>
          <a:p>
            <a:r>
              <a:rPr lang="en-US" dirty="0"/>
              <a:t>Show local IP addresses, subnet masks, and default gateways (routers).</a:t>
            </a:r>
          </a:p>
          <a:p>
            <a:r>
              <a:rPr lang="en-US" dirty="0"/>
              <a:t>Use </a:t>
            </a:r>
            <a:r>
              <a:rPr lang="en-US" dirty="0" err="1"/>
              <a:t>ipconfig</a:t>
            </a:r>
            <a:r>
              <a:rPr lang="en-US" dirty="0"/>
              <a:t> on Windows and </a:t>
            </a:r>
            <a:r>
              <a:rPr lang="en-US" dirty="0" err="1"/>
              <a:t>ifconfig</a:t>
            </a:r>
            <a:r>
              <a:rPr lang="en-US" dirty="0"/>
              <a:t> (or </a:t>
            </a:r>
            <a:r>
              <a:rPr lang="en-US" dirty="0" err="1"/>
              <a:t>ip</a:t>
            </a:r>
            <a:r>
              <a:rPr lang="en-US" dirty="0"/>
              <a:t>) on Linux/</a:t>
            </a:r>
            <a:r>
              <a:rPr lang="en-US" dirty="0" err="1"/>
              <a:t>macOS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err="1" smtClean="0"/>
              <a:t>Ipconfig</a:t>
            </a:r>
            <a:r>
              <a:rPr lang="en-US" b="1" dirty="0" smtClean="0"/>
              <a:t> </a:t>
            </a:r>
            <a:r>
              <a:rPr lang="en-US" b="1" dirty="0"/>
              <a:t>/ </a:t>
            </a:r>
            <a:r>
              <a:rPr lang="en-US" b="1" dirty="0" err="1"/>
              <a:t>Ifconfig</a:t>
            </a:r>
            <a:r>
              <a:rPr lang="en-US" b="1" dirty="0"/>
              <a:t> Examples</a:t>
            </a:r>
          </a:p>
          <a:p>
            <a:r>
              <a:rPr lang="en-US" b="1" dirty="0"/>
              <a:t>View all settings</a:t>
            </a:r>
            <a:r>
              <a:rPr lang="en-US" dirty="0"/>
              <a:t>: </a:t>
            </a:r>
            <a:r>
              <a:rPr lang="en-US" dirty="0" err="1"/>
              <a:t>ipconfig</a:t>
            </a:r>
            <a:r>
              <a:rPr lang="en-US" dirty="0"/>
              <a:t> /all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shows </a:t>
            </a:r>
            <a:r>
              <a:rPr lang="en-US" dirty="0"/>
              <a:t>detailed configuration, including DNS, on Windows.</a:t>
            </a:r>
          </a:p>
          <a:p>
            <a:r>
              <a:rPr lang="en-US" b="1" dirty="0"/>
              <a:t>Renew IP</a:t>
            </a:r>
            <a:r>
              <a:rPr lang="en-US" dirty="0"/>
              <a:t>: </a:t>
            </a:r>
            <a:r>
              <a:rPr lang="en-US" dirty="0" err="1"/>
              <a:t>ipconfig</a:t>
            </a:r>
            <a:r>
              <a:rPr lang="en-US" dirty="0"/>
              <a:t> /release followed by </a:t>
            </a:r>
            <a:r>
              <a:rPr lang="en-US" dirty="0" err="1"/>
              <a:t>ipconfig</a:t>
            </a:r>
            <a:r>
              <a:rPr lang="en-US" dirty="0"/>
              <a:t> /renew gets a new IP from DHCP.</a:t>
            </a:r>
          </a:p>
          <a:p>
            <a:r>
              <a:rPr lang="en-US" b="1" dirty="0"/>
              <a:t>Linux configuration</a:t>
            </a:r>
            <a:r>
              <a:rPr lang="en-US" dirty="0"/>
              <a:t>: </a:t>
            </a:r>
            <a:r>
              <a:rPr lang="en-US" dirty="0" err="1"/>
              <a:t>ifconfig</a:t>
            </a:r>
            <a:r>
              <a:rPr lang="en-US" dirty="0"/>
              <a:t> or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addr</a:t>
            </a:r>
            <a:r>
              <a:rPr lang="en-US" dirty="0"/>
              <a:t> show displays active interface details on Linux.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740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Route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Route</a:t>
            </a:r>
          </a:p>
          <a:p>
            <a:r>
              <a:rPr lang="en-US" dirty="0"/>
              <a:t>View and manage the local IP routing table on a computer.</a:t>
            </a:r>
          </a:p>
          <a:p>
            <a:r>
              <a:rPr lang="en-US" dirty="0"/>
              <a:t>Add, delete, or modify static routes to control how network traffic is directed.</a:t>
            </a:r>
          </a:p>
          <a:p>
            <a:r>
              <a:rPr lang="en-US" dirty="0"/>
              <a:t>Diagnose why traffic takes a specific gateway or fails to reach a separate subnet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/>
              <a:t>Route Examples</a:t>
            </a:r>
          </a:p>
          <a:p>
            <a:r>
              <a:rPr lang="en-US" b="1" dirty="0"/>
              <a:t>View table</a:t>
            </a:r>
            <a:r>
              <a:rPr lang="en-US" dirty="0"/>
              <a:t>: route print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shows </a:t>
            </a:r>
            <a:r>
              <a:rPr lang="en-US" dirty="0"/>
              <a:t>the active Windows routing table.</a:t>
            </a:r>
          </a:p>
          <a:p>
            <a:r>
              <a:rPr lang="en-US" b="1" dirty="0"/>
              <a:t>Linux table</a:t>
            </a:r>
            <a:r>
              <a:rPr lang="en-US" dirty="0"/>
              <a:t>: route -n or </a:t>
            </a:r>
            <a:r>
              <a:rPr lang="en-US" dirty="0" err="1"/>
              <a:t>ip</a:t>
            </a:r>
            <a:r>
              <a:rPr lang="en-US" dirty="0"/>
              <a:t> route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views </a:t>
            </a:r>
            <a:r>
              <a:rPr lang="en-US" dirty="0"/>
              <a:t>the table on Linux.</a:t>
            </a:r>
          </a:p>
          <a:p>
            <a:r>
              <a:rPr lang="en-US" b="1" dirty="0"/>
              <a:t>Add path</a:t>
            </a:r>
            <a:r>
              <a:rPr lang="en-US" dirty="0"/>
              <a:t>: route add 10.0.0.0 mask 255.0.0.0 192.168.1.254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adds </a:t>
            </a:r>
            <a:r>
              <a:rPr lang="en-US" dirty="0"/>
              <a:t>a static route.</a:t>
            </a:r>
          </a:p>
          <a:p>
            <a:r>
              <a:rPr lang="en-US" b="1" dirty="0"/>
              <a:t>Delete path</a:t>
            </a:r>
            <a:r>
              <a:rPr lang="en-US" dirty="0"/>
              <a:t>: route delete 10.0.0.0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removes </a:t>
            </a:r>
            <a:r>
              <a:rPr lang="en-US" dirty="0"/>
              <a:t>the created static route.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999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Arp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Arp</a:t>
            </a:r>
            <a:endParaRPr lang="en-US" b="1" dirty="0"/>
          </a:p>
          <a:p>
            <a:r>
              <a:rPr lang="en-US" dirty="0"/>
              <a:t>View and manage the Address Resolution Protocol (ARP) cache.</a:t>
            </a:r>
          </a:p>
          <a:p>
            <a:r>
              <a:rPr lang="en-US" dirty="0"/>
              <a:t>Display mappings of known IP addresses to physical MAC addresses on the local network.</a:t>
            </a:r>
          </a:p>
          <a:p>
            <a:r>
              <a:rPr lang="en-US" dirty="0"/>
              <a:t>Troubleshoot local hardware communication issues using commands like </a:t>
            </a:r>
            <a:r>
              <a:rPr lang="en-US" dirty="0" err="1"/>
              <a:t>arp</a:t>
            </a:r>
            <a:r>
              <a:rPr lang="en-US" dirty="0"/>
              <a:t> -a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Arp </a:t>
            </a:r>
            <a:r>
              <a:rPr lang="en-US" b="1" dirty="0"/>
              <a:t>Examples</a:t>
            </a:r>
          </a:p>
          <a:p>
            <a:r>
              <a:rPr lang="en-US" b="1" dirty="0"/>
              <a:t>View cache</a:t>
            </a:r>
            <a:r>
              <a:rPr lang="en-US" dirty="0"/>
              <a:t>: </a:t>
            </a:r>
            <a:r>
              <a:rPr lang="en-US" dirty="0" err="1"/>
              <a:t>arp</a:t>
            </a:r>
            <a:r>
              <a:rPr lang="en-US" dirty="0"/>
              <a:t> -a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lists </a:t>
            </a:r>
            <a:r>
              <a:rPr lang="en-US" dirty="0"/>
              <a:t>all current IP-to-MAC address mappings.</a:t>
            </a:r>
          </a:p>
          <a:p>
            <a:r>
              <a:rPr lang="en-US" b="1" dirty="0"/>
              <a:t>Clear entry</a:t>
            </a:r>
            <a:r>
              <a:rPr lang="en-US" dirty="0"/>
              <a:t>: </a:t>
            </a:r>
            <a:r>
              <a:rPr lang="en-US" dirty="0" err="1"/>
              <a:t>arp</a:t>
            </a:r>
            <a:r>
              <a:rPr lang="en-US" dirty="0"/>
              <a:t> -d 192.168.1.5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deletes </a:t>
            </a:r>
            <a:r>
              <a:rPr lang="en-US" dirty="0"/>
              <a:t>a specific device mapping from the cache.</a:t>
            </a:r>
          </a:p>
          <a:p>
            <a:r>
              <a:rPr lang="en-US" b="1" dirty="0"/>
              <a:t>Static mapping</a:t>
            </a:r>
            <a:r>
              <a:rPr lang="en-US" dirty="0"/>
              <a:t>: </a:t>
            </a:r>
            <a:r>
              <a:rPr lang="en-US" dirty="0" err="1"/>
              <a:t>arp</a:t>
            </a:r>
            <a:r>
              <a:rPr lang="en-US" dirty="0"/>
              <a:t> -s 192.168.1.5 00-aa-00-62-c6-09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binds </a:t>
            </a:r>
            <a:r>
              <a:rPr lang="en-US" dirty="0"/>
              <a:t>an IP permanently to a MAC.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295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2" y="381000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Key Behavioral Differences To Remember</a:t>
            </a:r>
            <a:br>
              <a:rPr lang="en-US" sz="3600" b="1" dirty="0" smtClean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600" b="1" dirty="0" smtClean="0"/>
              <a:t>Infinite </a:t>
            </a:r>
            <a:r>
              <a:rPr lang="en-US" sz="2600" b="1" dirty="0"/>
              <a:t>vs. Finite Pings</a:t>
            </a:r>
            <a:r>
              <a:rPr lang="en-US" sz="2600" dirty="0"/>
              <a:t>: </a:t>
            </a:r>
            <a:endParaRPr lang="en-US" sz="2600" dirty="0" smtClean="0"/>
          </a:p>
          <a:p>
            <a:pPr marL="0" indent="0">
              <a:buNone/>
            </a:pPr>
            <a:r>
              <a:rPr lang="en-US" sz="2600" dirty="0" smtClean="0"/>
              <a:t>Windows </a:t>
            </a:r>
            <a:r>
              <a:rPr lang="en-US" sz="2600" dirty="0"/>
              <a:t>pings exactly </a:t>
            </a:r>
            <a:r>
              <a:rPr lang="en-US" sz="2600" b="1" dirty="0"/>
              <a:t>4 times</a:t>
            </a:r>
            <a:r>
              <a:rPr lang="en-US" sz="2600" dirty="0"/>
              <a:t> by default and stops. </a:t>
            </a:r>
            <a:endParaRPr lang="en-US" sz="2600" dirty="0" smtClean="0"/>
          </a:p>
          <a:p>
            <a:pPr marL="0" indent="0">
              <a:buNone/>
            </a:pPr>
            <a:r>
              <a:rPr lang="en-US" sz="2600" dirty="0" smtClean="0"/>
              <a:t>Linux </a:t>
            </a:r>
            <a:r>
              <a:rPr lang="en-US" sz="2600" dirty="0"/>
              <a:t>pings </a:t>
            </a:r>
            <a:r>
              <a:rPr lang="en-US" sz="2600" b="1" dirty="0"/>
              <a:t>indefinitely</a:t>
            </a:r>
            <a:r>
              <a:rPr lang="en-US" sz="2600" dirty="0"/>
              <a:t> until you press Ctrl + C. </a:t>
            </a:r>
            <a:endParaRPr lang="en-US" sz="2600" dirty="0" smtClean="0"/>
          </a:p>
          <a:p>
            <a:pPr marL="0" indent="0">
              <a:buNone/>
            </a:pPr>
            <a:r>
              <a:rPr lang="en-US" sz="2600" dirty="0" smtClean="0"/>
              <a:t>Packet </a:t>
            </a:r>
            <a:r>
              <a:rPr lang="en-US" sz="2600" dirty="0"/>
              <a:t>Tracer pings exactly </a:t>
            </a:r>
            <a:r>
              <a:rPr lang="en-US" sz="2600" b="1" dirty="0"/>
              <a:t>4 times</a:t>
            </a:r>
            <a:r>
              <a:rPr lang="en-US" sz="2600" dirty="0"/>
              <a:t> on a Host PC, but a Cisco Router CLI pings exactly </a:t>
            </a:r>
            <a:r>
              <a:rPr lang="en-US" sz="2600" b="1" dirty="0"/>
              <a:t>5 times</a:t>
            </a:r>
            <a:r>
              <a:rPr lang="en-US" sz="2600" dirty="0"/>
              <a:t> by default.</a:t>
            </a:r>
          </a:p>
          <a:p>
            <a:r>
              <a:rPr lang="en-US" sz="2600" b="1" dirty="0"/>
              <a:t>Mac Address Formats</a:t>
            </a:r>
            <a:r>
              <a:rPr lang="en-US" sz="2600" dirty="0" smtClean="0"/>
              <a:t>:</a:t>
            </a:r>
          </a:p>
          <a:p>
            <a:pPr marL="0" indent="0">
              <a:buNone/>
            </a:pPr>
            <a:r>
              <a:rPr lang="en-US" sz="2600" dirty="0" smtClean="0"/>
              <a:t> </a:t>
            </a:r>
            <a:r>
              <a:rPr lang="en-US" sz="2600" dirty="0"/>
              <a:t>Pay close attention to hardware formatting. Windows uses </a:t>
            </a:r>
            <a:r>
              <a:rPr lang="en-US" sz="2600" b="1" dirty="0"/>
              <a:t>hyphens</a:t>
            </a:r>
            <a:r>
              <a:rPr lang="en-US" sz="2600" dirty="0"/>
              <a:t> (00-aa-</a:t>
            </a:r>
            <a:r>
              <a:rPr lang="en-US" sz="2600" dirty="0" smtClean="0"/>
              <a:t>...),</a:t>
            </a:r>
          </a:p>
          <a:p>
            <a:pPr marL="0" indent="0">
              <a:buNone/>
            </a:pPr>
            <a:r>
              <a:rPr lang="en-US" sz="2600" dirty="0" smtClean="0"/>
              <a:t> </a:t>
            </a:r>
            <a:r>
              <a:rPr lang="en-US" sz="2600" dirty="0"/>
              <a:t>Linux uses </a:t>
            </a:r>
            <a:r>
              <a:rPr lang="en-US" sz="2600" b="1" dirty="0"/>
              <a:t>colons</a:t>
            </a:r>
            <a:r>
              <a:rPr lang="en-US" sz="2600" dirty="0"/>
              <a:t> (00:aa:...), and </a:t>
            </a:r>
            <a:endParaRPr lang="en-US" sz="2600" dirty="0" smtClean="0"/>
          </a:p>
          <a:p>
            <a:pPr marL="0" indent="0">
              <a:buNone/>
            </a:pPr>
            <a:r>
              <a:rPr lang="en-US" sz="2600" dirty="0" smtClean="0"/>
              <a:t>Cisco </a:t>
            </a:r>
            <a:r>
              <a:rPr lang="en-US" sz="2600" dirty="0"/>
              <a:t>network hardware always uses </a:t>
            </a:r>
            <a:r>
              <a:rPr lang="en-US" sz="2600" b="1" dirty="0"/>
              <a:t>dots every four characters</a:t>
            </a:r>
            <a:r>
              <a:rPr lang="en-US" sz="2600" dirty="0"/>
              <a:t> (00aa.0062....).</a:t>
            </a:r>
          </a:p>
          <a:p>
            <a:r>
              <a:rPr lang="en-US" sz="2600" b="1" dirty="0"/>
              <a:t>Packet Tracer PC Limitations</a:t>
            </a:r>
            <a:r>
              <a:rPr lang="en-US" sz="2600" dirty="0"/>
              <a:t>: Simulated computers in Packet Tracer do not support advanced terminal commands for modifying routes or hardware mappings. You must use the simulated graphical user interface (GUI) properties windows instead.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82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0702961"/>
              </p:ext>
            </p:extLst>
          </p:nvPr>
        </p:nvGraphicFramePr>
        <p:xfrm>
          <a:off x="1066801" y="1554221"/>
          <a:ext cx="7239000" cy="4548955"/>
        </p:xfrm>
        <a:graphic>
          <a:graphicData uri="http://schemas.openxmlformats.org/drawingml/2006/table">
            <a:tbl>
              <a:tblPr/>
              <a:tblGrid>
                <a:gridCol w="3329900"/>
                <a:gridCol w="977275"/>
                <a:gridCol w="977275"/>
                <a:gridCol w="977275"/>
                <a:gridCol w="977275"/>
              </a:tblGrid>
              <a:tr h="412253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effectLst/>
                        </a:rPr>
                        <a:t>Network Utility / Action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Windows Command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Linux / macOS Command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Packet Tracer (Host PC)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Packet Tracer (Router/Switch CLI)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207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1">
                          <a:effectLst/>
                        </a:rPr>
                        <a:t>Ping (Standard)</a:t>
                      </a:r>
                      <a:endParaRPr lang="en-US" sz="800">
                        <a:effectLst/>
                      </a:endParaRP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ping 192.168.1.1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ping -c 4 192.168.1.1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ping 192.168.1.1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ping 192.168.1.1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207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1">
                          <a:effectLst/>
                        </a:rPr>
                        <a:t>Ping (Continuous)</a:t>
                      </a:r>
                      <a:endParaRPr lang="en-US" sz="800">
                        <a:effectLst/>
                      </a:endParaRP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effectLst/>
                        </a:rPr>
                        <a:t>ping -t 192.168.1.1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ping 192.168.1.1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i="1">
                          <a:effectLst/>
                        </a:rPr>
                        <a:t>Not Supported</a:t>
                      </a:r>
                      <a:endParaRPr lang="en-US" sz="800">
                        <a:effectLst/>
                      </a:endParaRP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i="1">
                          <a:effectLst/>
                        </a:rPr>
                        <a:t>Not Supported</a:t>
                      </a:r>
                      <a:endParaRPr lang="en-US" sz="800">
                        <a:effectLst/>
                      </a:endParaRP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207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1">
                          <a:effectLst/>
                        </a:rPr>
                        <a:t>Trace Route Path</a:t>
                      </a:r>
                      <a:endParaRPr lang="en-US" sz="800">
                        <a:effectLst/>
                      </a:endParaRP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tracert 10.0.0.1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traceroute 10.0.0.1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tracert 10.0.0.1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 err="1">
                          <a:effectLst/>
                        </a:rPr>
                        <a:t>traceroute</a:t>
                      </a:r>
                      <a:r>
                        <a:rPr lang="en-US" sz="800" dirty="0">
                          <a:effectLst/>
                        </a:rPr>
                        <a:t> 10.0.0.1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207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1">
                          <a:effectLst/>
                        </a:rPr>
                        <a:t>View Basic IP Settings</a:t>
                      </a:r>
                      <a:endParaRPr lang="en-US" sz="800">
                        <a:effectLst/>
                      </a:endParaRP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ipconfig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ip addr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ipconfig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show ip interface brief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207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1">
                          <a:effectLst/>
                        </a:rPr>
                        <a:t>View Detailed IP/DNS</a:t>
                      </a:r>
                      <a:endParaRPr lang="en-US" sz="800">
                        <a:effectLst/>
                      </a:endParaRP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ipconfig /all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ifconfig or ip a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ipconfig /all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show interfaces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207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1">
                          <a:effectLst/>
                        </a:rPr>
                        <a:t>Renew DHCP Address</a:t>
                      </a:r>
                      <a:endParaRPr lang="en-US" sz="800">
                        <a:effectLst/>
                      </a:endParaRP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ipconfig /renew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dhclient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ipconfig /renew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renew dhcp [interface]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207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1">
                          <a:effectLst/>
                        </a:rPr>
                        <a:t>View IP Routing Table</a:t>
                      </a:r>
                      <a:endParaRPr lang="en-US" sz="800">
                        <a:effectLst/>
                      </a:endParaRP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route print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ip route or route -n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i="1">
                          <a:effectLst/>
                        </a:rPr>
                        <a:t>Not Supported</a:t>
                      </a:r>
                      <a:r>
                        <a:rPr lang="en-US" sz="800">
                          <a:effectLst/>
                        </a:rPr>
                        <a:t> (Use GUI)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show ip route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1299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1">
                          <a:effectLst/>
                        </a:rPr>
                        <a:t>Add Manual Static Route</a:t>
                      </a:r>
                      <a:endParaRPr lang="en-US" sz="800">
                        <a:effectLst/>
                      </a:endParaRP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route add 10.0.0.0 mask 255.255.255.0 192.168.1.254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ip route add 10.0.0.0/24 via 192.168.1.254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i="1">
                          <a:effectLst/>
                        </a:rPr>
                        <a:t>Not Supported</a:t>
                      </a:r>
                      <a:r>
                        <a:rPr lang="en-US" sz="800">
                          <a:effectLst/>
                        </a:rPr>
                        <a:t> (Use GUI)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ip route 10.0.0.0 255.255.255.0 192.168.1.254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253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1">
                          <a:effectLst/>
                        </a:rPr>
                        <a:t>Delete Static Route</a:t>
                      </a:r>
                      <a:endParaRPr lang="en-US" sz="800">
                        <a:effectLst/>
                      </a:endParaRP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route delete 10.0.0.0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ip route del 10.0.0.0/24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i="1">
                          <a:effectLst/>
                        </a:rPr>
                        <a:t>Not Supported</a:t>
                      </a:r>
                      <a:r>
                        <a:rPr lang="en-US" sz="800">
                          <a:effectLst/>
                        </a:rPr>
                        <a:t> (Use GUI)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no ip route 10.0.0.0 255.255.255.0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207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1">
                          <a:effectLst/>
                        </a:rPr>
                        <a:t>View Local ARP Cache</a:t>
                      </a:r>
                      <a:endParaRPr lang="en-US" sz="800">
                        <a:effectLst/>
                      </a:endParaRP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arp -a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ip neigh or arp -an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arp -a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show arp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1299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1">
                          <a:effectLst/>
                        </a:rPr>
                        <a:t>Add Static ARP Entry</a:t>
                      </a:r>
                      <a:endParaRPr lang="en-US" sz="800">
                        <a:effectLst/>
                      </a:endParaRP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arp -s 192.168.1.5 00-aa-00-62-c6-09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arp -s 192.168.1.5 00:aa:00:62:c6:09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i="1">
                          <a:effectLst/>
                        </a:rPr>
                        <a:t>Not Supported</a:t>
                      </a:r>
                      <a:endParaRPr lang="en-US" sz="800">
                        <a:effectLst/>
                      </a:endParaRP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arp 192.168.1.5 00aa.0062.c609 arpa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207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1">
                          <a:effectLst/>
                        </a:rPr>
                        <a:t>Clear ARP Cache / Entry</a:t>
                      </a:r>
                      <a:endParaRPr lang="en-US" sz="800">
                        <a:effectLst/>
                      </a:endParaRP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arp -d * or arp -d 192.168.1.5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ip neigh flush all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>
                          <a:effectLst/>
                        </a:rPr>
                        <a:t>arp -d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dirty="0">
                          <a:effectLst/>
                        </a:rPr>
                        <a:t>clear </a:t>
                      </a:r>
                      <a:r>
                        <a:rPr lang="en-US" sz="800" dirty="0" err="1">
                          <a:effectLst/>
                        </a:rPr>
                        <a:t>arp</a:t>
                      </a:r>
                      <a:r>
                        <a:rPr lang="en-US" sz="800" dirty="0">
                          <a:effectLst/>
                        </a:rPr>
                        <a:t>-cache</a:t>
                      </a:r>
                    </a:p>
                  </a:txBody>
                  <a:tcPr marL="27557" marR="27557" marT="27557" marB="2755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786063" y="1287314"/>
            <a:ext cx="65" cy="56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42830" rIns="0" bIns="14283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137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890</Words>
  <Application>Microsoft Office PowerPoint</Application>
  <PresentationFormat>On-screen Show (4:3)</PresentationFormat>
  <Paragraphs>149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Practical 2 Use of ping, tracert/traceroute, ipconfig/ifconfig, route, and arp </vt:lpstr>
      <vt:lpstr>Ping</vt:lpstr>
      <vt:lpstr>Tracert / Traceroute </vt:lpstr>
      <vt:lpstr>Ipconfig / Ifconfig</vt:lpstr>
      <vt:lpstr>Route </vt:lpstr>
      <vt:lpstr>Arp </vt:lpstr>
      <vt:lpstr>Key Behavioral Differences To Remember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2 Use of ping, tracert/traceroute, ipconfig/ifconfig, route, and arp</dc:title>
  <dc:creator>LENOVO</dc:creator>
  <cp:lastModifiedBy>LENOVO</cp:lastModifiedBy>
  <cp:revision>4</cp:revision>
  <dcterms:created xsi:type="dcterms:W3CDTF">2026-08-24T06:36:24Z</dcterms:created>
  <dcterms:modified xsi:type="dcterms:W3CDTF">2026-08-24T07:18:08Z</dcterms:modified>
</cp:coreProperties>
</file>